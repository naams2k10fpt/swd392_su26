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2A3A8C">
              <a:alpha val="60000"/>
            </a:srgbClr>
          </a:solidFill>
          <a:ln w="12700">
            <a:solidFill>
              <a:srgbClr val="2A3A8C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2926080"/>
            <a:ext cx="2011680" cy="2011680"/>
          </a:xfrm>
          <a:prstGeom prst="ellipse">
            <a:avLst/>
          </a:prstGeom>
          <a:solidFill>
            <a:srgbClr val="2A3A8C">
              <a:alpha val="50000"/>
            </a:srgbClr>
          </a:solidFill>
          <a:ln w="12700">
            <a:solidFill>
              <a:srgbClr val="2A3A8C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&amp; Kiến Trúc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Mềm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quy trình Nghiên cứu Khoa học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 từ CMU · Monash · Siemens Global Project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6215A"/>
          </a:solidFill>
          <a:ln w="12700">
            <a:solidFill>
              <a:srgbClr val="1621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8828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Nghiên cứu Khoa học | Công nghệ Thông tin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Bước Nghiên cứu Khoa học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280160"/>
            <a:ext cx="877824" cy="1234440"/>
          </a:xfrm>
          <a:prstGeom prst="rect">
            <a:avLst/>
          </a:prstGeom>
          <a:solidFill>
            <a:srgbClr val="EEF2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37160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874520"/>
            <a:ext cx="786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vấn đề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179576" y="1280160"/>
            <a:ext cx="877824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79576" y="137160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25296" y="1874520"/>
            <a:ext cx="786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TL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30552" y="1280160"/>
            <a:ext cx="877824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30552" y="137160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176272" y="1874520"/>
            <a:ext cx="786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giả thuyết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81528" y="1280160"/>
            <a:ext cx="877824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081528" y="137160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127248" y="1874520"/>
            <a:ext cx="786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NC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32504" y="1280160"/>
            <a:ext cx="877824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032504" y="137160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078224" y="1874520"/>
            <a:ext cx="786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 DL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83480" y="1280160"/>
            <a:ext cx="877824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83480" y="137160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029200" y="1874520"/>
            <a:ext cx="786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DL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34456" y="1280160"/>
            <a:ext cx="877824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34456" y="137160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980176" y="1874520"/>
            <a:ext cx="786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thích KQ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85432" y="1280160"/>
            <a:ext cx="877824" cy="1234440"/>
          </a:xfrm>
          <a:prstGeom prst="rect">
            <a:avLst/>
          </a:prstGeom>
          <a:solidFill>
            <a:srgbClr val="EEF2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85432" y="137160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31152" y="1874520"/>
            <a:ext cx="786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836408" y="1280160"/>
            <a:ext cx="877824" cy="1234440"/>
          </a:xfrm>
          <a:prstGeom prst="rect">
            <a:avLst/>
          </a:prstGeom>
          <a:solidFill>
            <a:srgbClr val="EEF2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36408" y="137160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882128" y="1874520"/>
            <a:ext cx="786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bố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28600" y="2743200"/>
            <a:ext cx="201168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27157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Môn SA phù hợp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00400" y="2743200"/>
            <a:ext cx="201168" cy="201168"/>
          </a:xfrm>
          <a:prstGeom prst="rect">
            <a:avLst/>
          </a:prstGeom>
          <a:solidFill>
            <a:srgbClr val="EEF2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47288" y="27157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 liên quan trực tiếp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28600" y="3200400"/>
            <a:ext cx="8686800" cy="777240"/>
          </a:xfrm>
          <a:prstGeom prst="rect">
            <a:avLst/>
          </a:prstGeom>
          <a:solidFill>
            <a:srgbClr val="FFF3E0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24612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Môn học liên quan mật thiết đến 6 bước (2→7), đặc biệt cốt lõi ở Bước 4 — Thiết kế nghiên cứu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phù hợp như thế nào với từng bước?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143000"/>
            <a:ext cx="64008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07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TL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7335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các paper về design patterns, microservices, SOA, architectural styles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14300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143000"/>
            <a:ext cx="64008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207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14173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giả thuyết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67335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VD: 'Kiến trúc microservices giảm deploy time hơn monolith trong hệ thống X?'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10312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103120"/>
            <a:ext cx="64008" cy="822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23774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NC  ★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263347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study, thực nghiệm đo hiệu năng, phân tích mã nguồn — cốt lõi nhất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210312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103120"/>
            <a:ext cx="64008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23774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 DL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263347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Phỏng vấn kiến trúc sư, đo latency/throughput, phân tích code open-source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306324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063240"/>
            <a:ext cx="64008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1272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33375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DL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59359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patterns theo quality attributes: scalability, maintainability, security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306324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063240"/>
            <a:ext cx="64008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1272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33375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thích KQ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37760" y="359359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trade-off kiến trúc, tổng kết insight về architectural decisions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 từ các Trường trên Thế giới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4114800" cy="1554480"/>
          </a:xfrm>
          <a:prstGeom prst="rect">
            <a:avLst/>
          </a:prstGeom>
          <a:solidFill>
            <a:srgbClr val="F7F9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143000"/>
            <a:ext cx="41148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12070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 CMU — Software Engineering Institute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" y="158191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4 ngày dùng case studies thực tế: phân tích kỹ thuật + tổ chức + bối cảnh kinh doanh.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2194560"/>
            <a:ext cx="3931920" cy="402336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221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Literature survey + project thực hành bổ trợ nhau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143000"/>
            <a:ext cx="4114800" cy="1554480"/>
          </a:xfrm>
          <a:prstGeom prst="rect">
            <a:avLst/>
          </a:prstGeom>
          <a:solidFill>
            <a:srgbClr val="F7F9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143000"/>
            <a:ext cx="41148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2070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  Monash Univ. &amp; CMU — Open Design Case Study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10328" y="158191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án cộng đồng crowdsource case studies thiết kế; nhận ra challenge: design không đo được như test coverage.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92040" y="2194560"/>
            <a:ext cx="3931920" cy="402336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221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Multiple alternative solutions — khó so sánh cho SV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862072"/>
            <a:ext cx="4114800" cy="1554480"/>
          </a:xfrm>
          <a:prstGeom prst="rect">
            <a:avLst/>
          </a:prstGeom>
          <a:solidFill>
            <a:srgbClr val="F7F9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862072"/>
            <a:ext cx="41148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29260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Siemens + 8 Trường — Global Studio Project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" y="330098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Nghiên cứu đa năm trên 4 châu lục, tích hợp Software Architecture với OOA&amp;D trong distributed development.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913632"/>
            <a:ext cx="3931920" cy="402336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9410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Kết quả tốt khi tích hợp SA method vào OO process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2862072"/>
            <a:ext cx="4114800" cy="1554480"/>
          </a:xfrm>
          <a:prstGeom prst="rect">
            <a:avLst/>
          </a:prstGeom>
          <a:solidFill>
            <a:srgbClr val="F7F9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2862072"/>
            <a:ext cx="41148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0328" y="29260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🇨🇳  Đại học TQ — Case-Driven Teaching Model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10328" y="330098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từ lý thuyết thuần túy sang phương pháp case-driven + seminar chuyên gia ngành.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92040" y="3913632"/>
            <a:ext cx="3931920" cy="402336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9410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Mức độ hài lòng SV tăng rõ rệt sau khi cải tiến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 Hướng Nghiên cứu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261872"/>
            <a:ext cx="658368" cy="6583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2618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" y="1188720"/>
            <a:ext cx="4572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15568" y="126187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Microservices vs Monolith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5568" y="159105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 đề nghiên cứu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760720" y="1188720"/>
            <a:ext cx="3154680" cy="804672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0" y="1243584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pháp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852160" y="1426464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nghiệm đo hiệu năng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(latency, throughput, deploy time)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2148840"/>
            <a:ext cx="658368" cy="6583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148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05840" y="2075688"/>
            <a:ext cx="4572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15568" y="214884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trong hệ thống giáo dục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5568" y="247802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 đề nghiên cứu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760720" y="2075688"/>
            <a:ext cx="3154680" cy="804672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213055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pháp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52160" y="2313432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+ phỏng vấn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sư &amp; người dùng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3035808"/>
            <a:ext cx="658368" cy="65836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30358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05840" y="2962656"/>
            <a:ext cx="4572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115568" y="303580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 trong Open-source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15568" y="33649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 đề nghiên cứu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760720" y="2962656"/>
            <a:ext cx="3154680" cy="804672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30175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pháp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52160" y="3200400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mã nguồn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(GitHub mining, static analysis)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3922776"/>
            <a:ext cx="658368" cy="65836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92277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05840" y="3849624"/>
            <a:ext cx="4572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115568" y="392277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Decision &amp; Maintainability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15568" y="42519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 đề nghiên cứu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760720" y="3849624"/>
            <a:ext cx="3154680" cy="804672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52160" y="390448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pháp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52160" y="4087368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Khảo sát + thống kê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(developer survey, code metrics)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A3A8C">
              <a:alpha val="60000"/>
            </a:srgbClr>
          </a:solidFill>
          <a:ln w="12700">
            <a:solidFill>
              <a:srgbClr val="2A3A8C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2A3A8C">
              <a:alpha val="50000"/>
            </a:srgbClr>
          </a:solidFill>
          <a:ln w="12700">
            <a:solidFill>
              <a:srgbClr val="2A3A8C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5720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51560" y="1234440"/>
            <a:ext cx="749808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28930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Môn SA gắn chặt với 6/9 bước trong quy trình NCKH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2039112"/>
            <a:ext cx="45720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3911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51560" y="2039112"/>
            <a:ext cx="749808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2093976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4 (Thiết kế NC) là điểm cốt lõi — case study là phương pháp chủ đạo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843784"/>
            <a:ext cx="45720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4378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51560" y="2843784"/>
            <a:ext cx="749808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89864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CMU, Monash, Siemens đã chứng minh hiệu quả của học tập qua case study thực tế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648456"/>
            <a:ext cx="45720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4845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51560" y="3648456"/>
            <a:ext cx="749808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370332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hướng NC tiềm năng: Microservices, EdTech SA, OSS patterns, Architectural decisions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&amp; Kiến trúc Phần mềm × Nghiên cứu Khoa học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Môn Thiết Kế &amp; Kiến Trúc Phần Mềm trong NCKH</dc:title>
  <dc:subject>PptxGenJS Presentation</dc:subject>
  <dc:creator>PptxGenJS</dc:creator>
  <cp:lastModifiedBy>PptxGenJS</cp:lastModifiedBy>
  <cp:revision>1</cp:revision>
  <dcterms:created xsi:type="dcterms:W3CDTF">2026-05-11T00:54:15Z</dcterms:created>
  <dcterms:modified xsi:type="dcterms:W3CDTF">2026-05-11T00:54:15Z</dcterms:modified>
</cp:coreProperties>
</file>